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Te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457200" y="201168"/>
            <a:ext cx="6533826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500">
                <a:solidFill>
                  <a:srgbClr val="113660"/>
                </a:solidFill>
              </a:defRPr>
            </a:lvl1pPr>
          </a:lstStyle>
          <a:p>
            <a:pPr/>
            <a:r>
              <a:t>SalesAgent: Agent Flow and Business KPI Linkage</a:t>
            </a:r>
          </a:p>
        </p:txBody>
      </p:sp>
      <p:sp>
        <p:nvSpPr>
          <p:cNvPr id="96" name="Rounded Rectangle 4"/>
          <p:cNvSpPr/>
          <p:nvPr/>
        </p:nvSpPr>
        <p:spPr>
          <a:xfrm>
            <a:off x="269590" y="931154"/>
            <a:ext cx="7863841" cy="4995692"/>
          </a:xfrm>
          <a:prstGeom prst="roundRect">
            <a:avLst>
              <a:gd name="adj" fmla="val 17999"/>
            </a:avLst>
          </a:prstGeom>
          <a:solidFill>
            <a:srgbClr val="FFFFFF"/>
          </a:solidFill>
          <a:ln>
            <a:solidFill>
              <a:srgbClr val="D6DE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" name="Rounded Rectangle 5"/>
          <p:cNvSpPr/>
          <p:nvPr/>
        </p:nvSpPr>
        <p:spPr>
          <a:xfrm>
            <a:off x="8321040" y="790765"/>
            <a:ext cx="3520441" cy="52764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6DE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" name="TextBox 6"/>
          <p:cNvSpPr txBox="1"/>
          <p:nvPr/>
        </p:nvSpPr>
        <p:spPr>
          <a:xfrm>
            <a:off x="762343" y="1071915"/>
            <a:ext cx="126508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300">
                <a:solidFill>
                  <a:srgbClr val="113660"/>
                </a:solidFill>
              </a:defRPr>
            </a:lvl1pPr>
          </a:lstStyle>
          <a:p>
            <a:pPr/>
            <a:r>
              <a:t>Agent Workflow:</a:t>
            </a:r>
          </a:p>
        </p:txBody>
      </p:sp>
      <p:grpSp>
        <p:nvGrpSpPr>
          <p:cNvPr id="101" name="Rounded Rectangle 7"/>
          <p:cNvGrpSpPr/>
          <p:nvPr/>
        </p:nvGrpSpPr>
        <p:grpSpPr>
          <a:xfrm>
            <a:off x="676655" y="1395329"/>
            <a:ext cx="7315201" cy="512065"/>
            <a:chOff x="0" y="0"/>
            <a:chExt cx="7315200" cy="512063"/>
          </a:xfrm>
        </p:grpSpPr>
        <p:sp>
          <p:nvSpPr>
            <p:cNvPr id="99" name="Rounded Rectangle"/>
            <p:cNvSpPr/>
            <p:nvPr/>
          </p:nvSpPr>
          <p:spPr>
            <a:xfrm>
              <a:off x="0" y="0"/>
              <a:ext cx="7315200" cy="512064"/>
            </a:xfrm>
            <a:prstGeom prst="roundRect">
              <a:avLst>
                <a:gd name="adj" fmla="val 16667"/>
              </a:avLst>
            </a:prstGeom>
            <a:solidFill>
              <a:srgbClr val="113660"/>
            </a:solidFill>
            <a:ln w="9525" cap="flat">
              <a:solidFill>
                <a:srgbClr val="11366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9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0" name="SupervisorAgent: Orchestrates sequence, Delegations, State, Retries, and final output"/>
            <p:cNvSpPr txBox="1"/>
            <p:nvPr/>
          </p:nvSpPr>
          <p:spPr>
            <a:xfrm>
              <a:off x="75479" y="131879"/>
              <a:ext cx="7164242" cy="2483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</a:defRPr>
              </a:lvl1pPr>
            </a:lstStyle>
            <a:p>
              <a:pPr/>
              <a:r>
                <a:t>SupervisorAgent: Orchestrates sequence, Delegations, State, Retries, and final output</a:t>
              </a:r>
            </a:p>
          </p:txBody>
        </p:sp>
      </p:grpSp>
      <p:sp>
        <p:nvSpPr>
          <p:cNvPr id="102" name="Rounded Rectangle 8"/>
          <p:cNvSpPr txBox="1"/>
          <p:nvPr/>
        </p:nvSpPr>
        <p:spPr>
          <a:xfrm>
            <a:off x="429327" y="2399755"/>
            <a:ext cx="1931113" cy="1074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/>
          <a:lstStyle/>
          <a:p>
            <a:pPr algn="ctr">
              <a:defRPr b="1" sz="1500"/>
            </a:pPr>
            <a:r>
              <a:t>LeadScoringAgent</a:t>
            </a:r>
            <a:endParaRPr sz="1100">
              <a:solidFill>
                <a:srgbClr val="FFFFFF"/>
              </a:solidFill>
            </a:endParaRPr>
          </a:p>
          <a:p>
            <a:pPr>
              <a:defRPr sz="900"/>
            </a:pPr>
            <a:r>
              <a:t>-</a:t>
            </a:r>
            <a:r>
              <a:rPr sz="1000"/>
              <a:t> Computes RFM/behaviour-based propensity score</a:t>
            </a:r>
            <a:endParaRPr sz="1000"/>
          </a:p>
          <a:p>
            <a:pPr>
              <a:defRPr sz="1000"/>
            </a:pPr>
            <a:r>
              <a:t>- Outputs lead priority tier and scoring rationale</a:t>
            </a:r>
          </a:p>
        </p:txBody>
      </p:sp>
      <p:sp>
        <p:nvSpPr>
          <p:cNvPr id="103" name="Rounded Rectangle 10"/>
          <p:cNvSpPr txBox="1"/>
          <p:nvPr/>
        </p:nvSpPr>
        <p:spPr>
          <a:xfrm>
            <a:off x="2729039" y="2084690"/>
            <a:ext cx="2589406" cy="1440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/>
          <a:lstStyle/>
          <a:p>
            <a:pPr algn="ctr">
              <a:defRPr b="1" sz="1500"/>
            </a:pPr>
            <a:r>
              <a:t>ProductRecommendationAgent</a:t>
            </a:r>
          </a:p>
          <a:p>
            <a:pPr>
              <a:defRPr sz="1000"/>
            </a:pPr>
            <a:r>
              <a:t>- Matches client needs and risk profile to suitable products</a:t>
            </a:r>
          </a:p>
          <a:p>
            <a:pPr>
              <a:defRPr sz="1000"/>
            </a:pPr>
            <a:r>
              <a:t>- Outputs ranked opportunities by fit and value</a:t>
            </a:r>
          </a:p>
        </p:txBody>
      </p:sp>
      <p:sp>
        <p:nvSpPr>
          <p:cNvPr id="104" name="Rounded Rectangle 12"/>
          <p:cNvSpPr txBox="1"/>
          <p:nvPr/>
        </p:nvSpPr>
        <p:spPr>
          <a:xfrm>
            <a:off x="6010760" y="3123569"/>
            <a:ext cx="2006025" cy="21297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/>
          <a:lstStyle/>
          <a:p>
            <a:pPr algn="ctr">
              <a:defRPr b="1" sz="1500"/>
            </a:pPr>
            <a:r>
              <a:t>ComplianceAgent</a:t>
            </a:r>
          </a:p>
          <a:p>
            <a:pPr>
              <a:defRPr sz="1000"/>
            </a:pPr>
            <a:r>
              <a:t>- Applies deterministic policy/risk checks</a:t>
            </a:r>
          </a:p>
          <a:p>
            <a:pPr>
              <a:defRPr sz="1000"/>
            </a:pPr>
            <a:r>
              <a:t>- Outputs approved list, blocked items, and reasons</a:t>
            </a:r>
          </a:p>
        </p:txBody>
      </p:sp>
      <p:sp>
        <p:nvSpPr>
          <p:cNvPr id="105" name="Rounded Rectangle 16"/>
          <p:cNvSpPr/>
          <p:nvPr/>
        </p:nvSpPr>
        <p:spPr>
          <a:xfrm>
            <a:off x="1020965" y="4543280"/>
            <a:ext cx="3134145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/>
          <a:p>
            <a:pPr algn="ctr">
              <a:defRPr b="1" sz="900">
                <a:solidFill>
                  <a:srgbClr val="FFFFFF"/>
                </a:solidFill>
              </a:defRPr>
            </a:pPr>
            <a:r>
              <a:t>ClientProfileAgent</a:t>
            </a:r>
          </a:p>
          <a:p>
            <a:pPr>
              <a:defRPr sz="700">
                <a:solidFill>
                  <a:srgbClr val="FFFFFF"/>
                </a:solidFill>
              </a:defRPr>
            </a:pPr>
            <a:r>
              <a:t>- Builds 360-degree client context view</a:t>
            </a:r>
          </a:p>
          <a:p>
            <a:pPr>
              <a:defRPr sz="700">
                <a:solidFill>
                  <a:srgbClr val="FFFFFF"/>
                </a:solidFill>
              </a:defRPr>
            </a:pPr>
            <a:r>
              <a:t>- Outputs profile summary and next-best-action signals</a:t>
            </a:r>
          </a:p>
        </p:txBody>
      </p:sp>
      <p:sp>
        <p:nvSpPr>
          <p:cNvPr id="106" name="Rounded Rectangle 18"/>
          <p:cNvSpPr/>
          <p:nvPr/>
        </p:nvSpPr>
        <p:spPr>
          <a:xfrm>
            <a:off x="525288" y="4962886"/>
            <a:ext cx="7418375" cy="534619"/>
          </a:xfrm>
          <a:prstGeom prst="roundRect">
            <a:avLst>
              <a:gd name="adj" fmla="val 29051"/>
            </a:avLst>
          </a:prstGeom>
          <a:solidFill>
            <a:srgbClr val="F6F9FE"/>
          </a:solidFill>
          <a:ln>
            <a:solidFill>
              <a:srgbClr val="D6DE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 sz="800">
                <a:solidFill>
                  <a:srgbClr val="606C7B"/>
                </a:solidFill>
              </a:defRPr>
            </a:pPr>
          </a:p>
        </p:txBody>
      </p:sp>
      <p:grpSp>
        <p:nvGrpSpPr>
          <p:cNvPr id="109" name="Rectangle 19"/>
          <p:cNvGrpSpPr/>
          <p:nvPr/>
        </p:nvGrpSpPr>
        <p:grpSpPr>
          <a:xfrm>
            <a:off x="8321040" y="793844"/>
            <a:ext cx="3520441" cy="457201"/>
            <a:chOff x="0" y="0"/>
            <a:chExt cx="3520440" cy="457200"/>
          </a:xfrm>
        </p:grpSpPr>
        <p:sp>
          <p:nvSpPr>
            <p:cNvPr id="107" name="Rectangle"/>
            <p:cNvSpPr/>
            <p:nvPr/>
          </p:nvSpPr>
          <p:spPr>
            <a:xfrm>
              <a:off x="-1" y="0"/>
              <a:ext cx="3520442" cy="457200"/>
            </a:xfrm>
            <a:prstGeom prst="rect">
              <a:avLst/>
            </a:prstGeom>
            <a:solidFill>
              <a:srgbClr val="113660"/>
            </a:solidFill>
            <a:ln w="9525" cap="flat">
              <a:solidFill>
                <a:srgbClr val="11366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1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8" name="Business Purposes and KPIs"/>
            <p:cNvSpPr txBox="1"/>
            <p:nvPr/>
          </p:nvSpPr>
          <p:spPr>
            <a:xfrm>
              <a:off x="50482" y="115746"/>
              <a:ext cx="3419476" cy="2257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</a:defRPr>
              </a:lvl1pPr>
            </a:lstStyle>
            <a:p>
              <a:pPr/>
              <a:r>
                <a:t>Business Purposes and KPIs</a:t>
              </a:r>
            </a:p>
          </p:txBody>
        </p:sp>
      </p:grpSp>
      <p:grpSp>
        <p:nvGrpSpPr>
          <p:cNvPr id="112" name="Rounded Rectangle 20"/>
          <p:cNvGrpSpPr/>
          <p:nvPr/>
        </p:nvGrpSpPr>
        <p:grpSpPr>
          <a:xfrm>
            <a:off x="8412480" y="1303889"/>
            <a:ext cx="3337561" cy="694945"/>
            <a:chOff x="0" y="0"/>
            <a:chExt cx="3337559" cy="694944"/>
          </a:xfrm>
        </p:grpSpPr>
        <p:sp>
          <p:nvSpPr>
            <p:cNvPr id="110" name="Rounded Rectangle"/>
            <p:cNvSpPr/>
            <p:nvPr/>
          </p:nvSpPr>
          <p:spPr>
            <a:xfrm>
              <a:off x="0" y="0"/>
              <a:ext cx="3337560" cy="694945"/>
            </a:xfrm>
            <a:prstGeom prst="roundRect">
              <a:avLst>
                <a:gd name="adj" fmla="val 16667"/>
              </a:avLst>
            </a:prstGeom>
            <a:solidFill>
              <a:srgbClr val="F6F9FE"/>
            </a:solidFill>
            <a:ln w="9525" cap="flat">
              <a:solidFill>
                <a:srgbClr val="E2E9F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700">
                  <a:solidFill>
                    <a:srgbClr val="262F3C"/>
                  </a:solidFill>
                </a:defRPr>
              </a:pPr>
            </a:p>
          </p:txBody>
        </p:sp>
        <p:sp>
          <p:nvSpPr>
            <p:cNvPr id="111" name="1. Increase lead-to-investment conversion Focuses sales on high intent clients to improve conversion    Higher conversion rate and lower customer acquisition effort"/>
            <p:cNvSpPr txBox="1"/>
            <p:nvPr/>
          </p:nvSpPr>
          <p:spPr>
            <a:xfrm>
              <a:off x="84406" y="145060"/>
              <a:ext cx="3168747" cy="404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113660"/>
                  </a:solidFill>
                </a:defRPr>
              </a:pPr>
              <a:r>
                <a:t>1. Increase lead-to-investment conversion</a:t>
              </a:r>
              <a:br/>
              <a:r>
                <a:rPr b="0" sz="600">
                  <a:solidFill>
                    <a:srgbClr val="000000"/>
                  </a:solidFill>
                </a:rPr>
                <a:t>Focuses sales on high intent clients to improve conversion</a:t>
              </a:r>
              <a:br>
                <a:rPr b="0" sz="600">
                  <a:solidFill>
                    <a:srgbClr val="000000"/>
                  </a:solidFill>
                </a:rPr>
              </a:br>
              <a:r>
                <a:rPr b="0" sz="600">
                  <a:solidFill>
                    <a:srgbClr val="000000"/>
                  </a:solidFill>
                </a:rPr>
                <a:t>   Higher conversion rate and lower customer acquisition effort</a:t>
              </a:r>
            </a:p>
          </p:txBody>
        </p:sp>
      </p:grpSp>
      <p:grpSp>
        <p:nvGrpSpPr>
          <p:cNvPr id="115" name="Rounded Rectangle 21"/>
          <p:cNvGrpSpPr/>
          <p:nvPr/>
        </p:nvGrpSpPr>
        <p:grpSpPr>
          <a:xfrm>
            <a:off x="8412480" y="2051678"/>
            <a:ext cx="3337561" cy="694945"/>
            <a:chOff x="0" y="0"/>
            <a:chExt cx="3337559" cy="694944"/>
          </a:xfrm>
        </p:grpSpPr>
        <p:sp>
          <p:nvSpPr>
            <p:cNvPr id="113" name="Rounded Rectangle"/>
            <p:cNvSpPr/>
            <p:nvPr/>
          </p:nvSpPr>
          <p:spPr>
            <a:xfrm>
              <a:off x="0" y="0"/>
              <a:ext cx="3337560" cy="694945"/>
            </a:xfrm>
            <a:prstGeom prst="roundRect">
              <a:avLst>
                <a:gd name="adj" fmla="val 16667"/>
              </a:avLst>
            </a:prstGeom>
            <a:solidFill>
              <a:srgbClr val="F6F9FE"/>
            </a:solidFill>
            <a:ln w="9525" cap="flat">
              <a:solidFill>
                <a:srgbClr val="E2E9F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700">
                  <a:solidFill>
                    <a:srgbClr val="262F3C"/>
                  </a:solidFill>
                </a:defRPr>
              </a:pPr>
            </a:p>
          </p:txBody>
        </p:sp>
        <p:sp>
          <p:nvSpPr>
            <p:cNvPr id="114" name="2. Improve cross-selling with risk-aligned recommendations…"/>
            <p:cNvSpPr txBox="1"/>
            <p:nvPr/>
          </p:nvSpPr>
          <p:spPr>
            <a:xfrm>
              <a:off x="84406" y="145060"/>
              <a:ext cx="3168747" cy="404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113660"/>
                  </a:solidFill>
                </a:defRPr>
              </a:pPr>
              <a:r>
                <a:t>2. Improve cross-selling with risk-aligned recommendations</a:t>
              </a:r>
            </a:p>
            <a:p>
              <a:pPr algn="ctr">
                <a:defRPr sz="600"/>
              </a:pPr>
              <a:r>
                <a:t>Matches offer to risk appetite to raise cross-sell success</a:t>
              </a:r>
            </a:p>
            <a:p>
              <a:pPr algn="ctr">
                <a:defRPr sz="600"/>
              </a:pPr>
              <a:r>
                <a:t>Higher cross-sell ratio and improved suitability score</a:t>
              </a:r>
            </a:p>
          </p:txBody>
        </p:sp>
      </p:grpSp>
      <p:grpSp>
        <p:nvGrpSpPr>
          <p:cNvPr id="118" name="Rounded Rectangle 22"/>
          <p:cNvGrpSpPr/>
          <p:nvPr/>
        </p:nvGrpSpPr>
        <p:grpSpPr>
          <a:xfrm>
            <a:off x="8412480" y="2789560"/>
            <a:ext cx="3337561" cy="694945"/>
            <a:chOff x="0" y="0"/>
            <a:chExt cx="3337559" cy="694944"/>
          </a:xfrm>
        </p:grpSpPr>
        <p:sp>
          <p:nvSpPr>
            <p:cNvPr id="116" name="Rounded Rectangle"/>
            <p:cNvSpPr/>
            <p:nvPr/>
          </p:nvSpPr>
          <p:spPr>
            <a:xfrm>
              <a:off x="0" y="0"/>
              <a:ext cx="3337560" cy="694945"/>
            </a:xfrm>
            <a:prstGeom prst="roundRect">
              <a:avLst>
                <a:gd name="adj" fmla="val 16667"/>
              </a:avLst>
            </a:prstGeom>
            <a:solidFill>
              <a:srgbClr val="F6F9FE"/>
            </a:solidFill>
            <a:ln w="9525" cap="flat">
              <a:solidFill>
                <a:srgbClr val="E2E9F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700">
                  <a:solidFill>
                    <a:srgbClr val="262F3C"/>
                  </a:solidFill>
                </a:defRPr>
              </a:pPr>
            </a:p>
          </p:txBody>
        </p:sp>
        <p:sp>
          <p:nvSpPr>
            <p:cNvPr id="117" name="3. Personalize client engagement…"/>
            <p:cNvSpPr txBox="1"/>
            <p:nvPr/>
          </p:nvSpPr>
          <p:spPr>
            <a:xfrm>
              <a:off x="84406" y="145060"/>
              <a:ext cx="3168747" cy="404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113660"/>
                  </a:solidFill>
                </a:defRPr>
              </a:pPr>
              <a:r>
                <a:t>3. Personalize client engagement</a:t>
              </a:r>
            </a:p>
            <a:p>
              <a:pPr algn="ctr">
                <a:defRPr sz="600"/>
              </a:pPr>
              <a:r>
                <a:t>Automates tailored follow-ups to boost response and engagement</a:t>
              </a:r>
              <a:br/>
              <a:r>
                <a:t>Higher response rates and better engagement score</a:t>
              </a:r>
            </a:p>
          </p:txBody>
        </p:sp>
      </p:grpSp>
      <p:grpSp>
        <p:nvGrpSpPr>
          <p:cNvPr id="121" name="Rounded Rectangle 23"/>
          <p:cNvGrpSpPr/>
          <p:nvPr/>
        </p:nvGrpSpPr>
        <p:grpSpPr>
          <a:xfrm>
            <a:off x="8412480" y="3547256"/>
            <a:ext cx="3337561" cy="694945"/>
            <a:chOff x="0" y="0"/>
            <a:chExt cx="3337559" cy="694944"/>
          </a:xfrm>
        </p:grpSpPr>
        <p:sp>
          <p:nvSpPr>
            <p:cNvPr id="119" name="Rounded Rectangle"/>
            <p:cNvSpPr/>
            <p:nvPr/>
          </p:nvSpPr>
          <p:spPr>
            <a:xfrm>
              <a:off x="0" y="0"/>
              <a:ext cx="3337560" cy="694945"/>
            </a:xfrm>
            <a:prstGeom prst="roundRect">
              <a:avLst>
                <a:gd name="adj" fmla="val 16667"/>
              </a:avLst>
            </a:prstGeom>
            <a:solidFill>
              <a:srgbClr val="F6F9FE"/>
            </a:solidFill>
            <a:ln w="9525" cap="flat">
              <a:solidFill>
                <a:srgbClr val="E2E9F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700">
                  <a:solidFill>
                    <a:srgbClr val="262F3C"/>
                  </a:solidFill>
                </a:defRPr>
              </a:pPr>
            </a:p>
          </p:txBody>
        </p:sp>
        <p:sp>
          <p:nvSpPr>
            <p:cNvPr id="120" name="4. Enable faster new product targeting…"/>
            <p:cNvSpPr txBox="1"/>
            <p:nvPr/>
          </p:nvSpPr>
          <p:spPr>
            <a:xfrm>
              <a:off x="84406" y="145060"/>
              <a:ext cx="3168747" cy="404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113660"/>
                  </a:solidFill>
                </a:defRPr>
              </a:pPr>
              <a:r>
                <a:t>4. Enable faster new product targeting</a:t>
              </a:r>
            </a:p>
            <a:p>
              <a:pPr algn="ctr">
                <a:defRPr sz="600"/>
              </a:pPr>
              <a:r>
                <a:t>I</a:t>
              </a:r>
              <a:r>
                <a:t>dentifies best-fit clients for quicker launch adoption</a:t>
              </a:r>
              <a:br/>
              <a:r>
                <a:t>Faster campaign launch and better early adoption</a:t>
              </a:r>
            </a:p>
          </p:txBody>
        </p:sp>
      </p:grpSp>
      <p:grpSp>
        <p:nvGrpSpPr>
          <p:cNvPr id="124" name="Rounded Rectangle 24"/>
          <p:cNvGrpSpPr/>
          <p:nvPr/>
        </p:nvGrpSpPr>
        <p:grpSpPr>
          <a:xfrm>
            <a:off x="8412480" y="4307411"/>
            <a:ext cx="3337561" cy="694945"/>
            <a:chOff x="0" y="0"/>
            <a:chExt cx="3337559" cy="694944"/>
          </a:xfrm>
        </p:grpSpPr>
        <p:sp>
          <p:nvSpPr>
            <p:cNvPr id="122" name="Rounded Rectangle"/>
            <p:cNvSpPr/>
            <p:nvPr/>
          </p:nvSpPr>
          <p:spPr>
            <a:xfrm>
              <a:off x="0" y="0"/>
              <a:ext cx="3337560" cy="694945"/>
            </a:xfrm>
            <a:prstGeom prst="roundRect">
              <a:avLst>
                <a:gd name="adj" fmla="val 16667"/>
              </a:avLst>
            </a:prstGeom>
            <a:solidFill>
              <a:srgbClr val="F6F9FE"/>
            </a:solidFill>
            <a:ln w="9525" cap="flat">
              <a:solidFill>
                <a:srgbClr val="E2E9F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700">
                  <a:solidFill>
                    <a:srgbClr val="262F3C"/>
                  </a:solidFill>
                </a:defRPr>
              </a:pPr>
            </a:p>
          </p:txBody>
        </p:sp>
        <p:sp>
          <p:nvSpPr>
            <p:cNvPr id="123" name="5. Strengthen compliance and audit readiness…"/>
            <p:cNvSpPr txBox="1"/>
            <p:nvPr/>
          </p:nvSpPr>
          <p:spPr>
            <a:xfrm>
              <a:off x="84406" y="145060"/>
              <a:ext cx="3168747" cy="404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113660"/>
                  </a:solidFill>
                </a:defRPr>
              </a:pPr>
              <a:r>
                <a:t>5. Strengthen compliance and audit readiness</a:t>
              </a:r>
            </a:p>
            <a:p>
              <a:pPr algn="ctr">
                <a:defRPr sz="600"/>
              </a:pPr>
              <a:r>
                <a:t>Flags risky recommendations and keeps audit-ready records</a:t>
              </a:r>
              <a:br/>
              <a:r>
                <a:t>Reduced compliance incidents and faster audits</a:t>
              </a:r>
            </a:p>
          </p:txBody>
        </p:sp>
      </p:grpSp>
      <p:grpSp>
        <p:nvGrpSpPr>
          <p:cNvPr id="127" name="Rounded Rectangle 25"/>
          <p:cNvGrpSpPr/>
          <p:nvPr/>
        </p:nvGrpSpPr>
        <p:grpSpPr>
          <a:xfrm>
            <a:off x="8412480" y="5067567"/>
            <a:ext cx="3337561" cy="694945"/>
            <a:chOff x="0" y="0"/>
            <a:chExt cx="3337559" cy="694944"/>
          </a:xfrm>
        </p:grpSpPr>
        <p:sp>
          <p:nvSpPr>
            <p:cNvPr id="125" name="Rounded Rectangle"/>
            <p:cNvSpPr/>
            <p:nvPr/>
          </p:nvSpPr>
          <p:spPr>
            <a:xfrm>
              <a:off x="0" y="0"/>
              <a:ext cx="3337560" cy="694945"/>
            </a:xfrm>
            <a:prstGeom prst="roundRect">
              <a:avLst>
                <a:gd name="adj" fmla="val 16667"/>
              </a:avLst>
            </a:prstGeom>
            <a:solidFill>
              <a:srgbClr val="F6F9FE"/>
            </a:solidFill>
            <a:ln w="9525" cap="flat">
              <a:solidFill>
                <a:srgbClr val="E2E9F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700">
                  <a:solidFill>
                    <a:srgbClr val="262F3C"/>
                  </a:solidFill>
                </a:defRPr>
              </a:pPr>
            </a:p>
          </p:txBody>
        </p:sp>
        <p:sp>
          <p:nvSpPr>
            <p:cNvPr id="126" name="6. Improve sales productivity…"/>
            <p:cNvSpPr txBox="1"/>
            <p:nvPr/>
          </p:nvSpPr>
          <p:spPr>
            <a:xfrm>
              <a:off x="84406" y="145060"/>
              <a:ext cx="3168747" cy="404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113660"/>
                  </a:solidFill>
                </a:defRPr>
              </a:pPr>
              <a:r>
                <a:t>6. Improve sales productivity</a:t>
              </a:r>
            </a:p>
            <a:p>
              <a:pPr algn="ctr">
                <a:defRPr sz="600"/>
              </a:pPr>
              <a:r>
                <a:t>Prioritises high-value actions so agents spend more time selling.</a:t>
              </a:r>
              <a:br/>
              <a:r>
                <a:t>More productive agent time and increased pipeline velocity</a:t>
              </a:r>
            </a:p>
          </p:txBody>
        </p:sp>
      </p:grpSp>
      <p:sp>
        <p:nvSpPr>
          <p:cNvPr id="128" name="Line"/>
          <p:cNvSpPr/>
          <p:nvPr/>
        </p:nvSpPr>
        <p:spPr>
          <a:xfrm>
            <a:off x="1394883" y="1974677"/>
            <a:ext cx="1" cy="415068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" name="Line"/>
          <p:cNvSpPr/>
          <p:nvPr/>
        </p:nvSpPr>
        <p:spPr>
          <a:xfrm>
            <a:off x="2236370" y="2937017"/>
            <a:ext cx="42901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" name="Line"/>
          <p:cNvSpPr/>
          <p:nvPr/>
        </p:nvSpPr>
        <p:spPr>
          <a:xfrm>
            <a:off x="5386459" y="2937017"/>
            <a:ext cx="42901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" name="Line"/>
          <p:cNvSpPr/>
          <p:nvPr/>
        </p:nvSpPr>
        <p:spPr>
          <a:xfrm>
            <a:off x="6921663" y="3221466"/>
            <a:ext cx="1" cy="415068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" name="InsightSynthesisAgent…"/>
          <p:cNvSpPr txBox="1"/>
          <p:nvPr/>
        </p:nvSpPr>
        <p:spPr>
          <a:xfrm>
            <a:off x="3231463" y="3767694"/>
            <a:ext cx="2006025" cy="1117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500"/>
            </a:pPr>
            <a:r>
              <a:t>InsightSynthesisAgent</a:t>
            </a:r>
          </a:p>
          <a:p>
            <a:pPr>
              <a:defRPr sz="700"/>
            </a:pPr>
            <a:r>
              <a:t>- </a:t>
            </a:r>
            <a:r>
              <a:rPr sz="1000"/>
              <a:t>Synthesises score, profile, and compliance outcomes</a:t>
            </a:r>
            <a:endParaRPr sz="1000"/>
          </a:p>
          <a:p>
            <a:pPr>
              <a:defRPr sz="1000"/>
            </a:pPr>
            <a:r>
              <a:t>- Outputs final narrative: Why this client?, Why this product?, Why now?</a:t>
            </a:r>
          </a:p>
        </p:txBody>
      </p:sp>
      <p:sp>
        <p:nvSpPr>
          <p:cNvPr id="133" name="ClientProfileAgent…"/>
          <p:cNvSpPr txBox="1"/>
          <p:nvPr/>
        </p:nvSpPr>
        <p:spPr>
          <a:xfrm>
            <a:off x="5879128" y="2395905"/>
            <a:ext cx="2269289" cy="787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500"/>
            </a:pPr>
            <a:r>
              <a:t>ClientProfileAgent</a:t>
            </a:r>
          </a:p>
          <a:p>
            <a:pPr>
              <a:defRPr sz="700"/>
            </a:pPr>
            <a:r>
              <a:t>- </a:t>
            </a:r>
            <a:r>
              <a:rPr sz="1000"/>
              <a:t>Builds 360-degree client context view</a:t>
            </a:r>
            <a:endParaRPr sz="1000"/>
          </a:p>
          <a:p>
            <a:pPr>
              <a:defRPr sz="1000"/>
            </a:pPr>
            <a:r>
              <a:t>- Outputs profile summary and next-best-action signals</a:t>
            </a:r>
          </a:p>
        </p:txBody>
      </p:sp>
      <p:sp>
        <p:nvSpPr>
          <p:cNvPr id="134" name="Line"/>
          <p:cNvSpPr/>
          <p:nvPr/>
        </p:nvSpPr>
        <p:spPr>
          <a:xfrm flipH="1">
            <a:off x="5386459" y="4282972"/>
            <a:ext cx="429016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" name="Workflow: Supervisor -&gt; LeadScoring -&gt; ProductRecommendation -&gt; ClientProfile -&gt; Compliance -&gt; InsightSynthesis"/>
          <p:cNvSpPr txBox="1"/>
          <p:nvPr/>
        </p:nvSpPr>
        <p:spPr>
          <a:xfrm>
            <a:off x="668735" y="5111766"/>
            <a:ext cx="7131482" cy="405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50000"/>
              </a:lnSpc>
              <a:defRPr sz="900">
                <a:solidFill>
                  <a:srgbClr val="11366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Workflow: Supervisor -&gt; LeadScoring -&gt; ProductRecommendation -&gt; ClientProfile -&gt; Compliance -&gt; InsightSynthesis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